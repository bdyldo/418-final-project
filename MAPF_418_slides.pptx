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D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>
        <p:scale>
          <a:sx n="114" d="100"/>
          <a:sy n="114" d="100"/>
        </p:scale>
        <p:origin x="664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Runtime (s)</c:v>
                </c:pt>
              </c:strCache>
            </c:strRef>
          </c:tx>
          <c:spPr>
            <a:ln w="38100" cap="flat">
              <a:solidFill>
                <a:srgbClr val="38BDF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8BDF8"/>
              </a:solidFill>
              <a:ln w="9525" cap="flat">
                <a:solidFill>
                  <a:srgbClr val="38BDF8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156.30000000000001</c:v>
                </c:pt>
                <c:pt idx="1">
                  <c:v>88.9</c:v>
                </c:pt>
                <c:pt idx="2">
                  <c:v>53.8</c:v>
                </c:pt>
                <c:pt idx="3">
                  <c:v>38.4</c:v>
                </c:pt>
                <c:pt idx="4">
                  <c:v>33.299999999999997</c:v>
                </c:pt>
                <c:pt idx="5">
                  <c:v>33.6</c:v>
                </c:pt>
                <c:pt idx="6">
                  <c:v>34</c:v>
                </c:pt>
                <c:pt idx="7">
                  <c:v>34.6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1D9-BA4E-9866-76E14465AA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Ideal (linear)</c:v>
                </c:pt>
              </c:strCache>
            </c:strRef>
          </c:tx>
          <c:spPr>
            <a:ln w="38100" cap="flat">
              <a:solidFill>
                <a:srgbClr val="33415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34155"/>
              </a:solidFill>
              <a:ln w="9525" cap="flat">
                <a:solidFill>
                  <a:srgbClr val="334155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156.30000000000001</c:v>
                </c:pt>
                <c:pt idx="1">
                  <c:v>78.2</c:v>
                </c:pt>
                <c:pt idx="2">
                  <c:v>39.1</c:v>
                </c:pt>
                <c:pt idx="3">
                  <c:v>19.5</c:v>
                </c:pt>
                <c:pt idx="4">
                  <c:v>9.8000000000000007</c:v>
                </c:pt>
                <c:pt idx="5">
                  <c:v>4.9000000000000004</c:v>
                </c:pt>
                <c:pt idx="6">
                  <c:v>2.4</c:v>
                </c:pt>
                <c:pt idx="7">
                  <c:v>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1D9-BA4E-9866-76E14465AA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F5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94A3B8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94A3B8"/>
                    </a:solidFill>
                    <a:latin typeface="Arial"/>
                  </a:rPr>
                  <a:t>Runtime (s)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31F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Beam-8 Runtime (s)</c:v>
                </c:pt>
              </c:strCache>
            </c:strRef>
          </c:tx>
          <c:spPr>
            <a:ln w="38100" cap="flat">
              <a:solidFill>
                <a:srgbClr val="A78BF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78BFA"/>
              </a:solidFill>
              <a:ln w="9525" cap="flat">
                <a:solidFill>
                  <a:srgbClr val="A78BFA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38.4</c:v>
                </c:pt>
                <c:pt idx="1">
                  <c:v>48</c:v>
                </c:pt>
                <c:pt idx="2">
                  <c:v>57.5</c:v>
                </c:pt>
                <c:pt idx="3">
                  <c:v>81.3</c:v>
                </c:pt>
                <c:pt idx="4">
                  <c:v>81.900000000000006</c:v>
                </c:pt>
                <c:pt idx="5">
                  <c:v>84.2</c:v>
                </c:pt>
                <c:pt idx="6">
                  <c:v>81.400000000000006</c:v>
                </c:pt>
                <c:pt idx="7">
                  <c:v>80.5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82-D144-8B7B-EED14D3072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Greedy N=1 (reference)</c:v>
                </c:pt>
              </c:strCache>
            </c:strRef>
          </c:tx>
          <c:spPr>
            <a:ln w="38100" cap="flat">
              <a:solidFill>
                <a:srgbClr val="47556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75569"/>
              </a:solidFill>
              <a:ln w="9525" cap="flat">
                <a:solidFill>
                  <a:srgbClr val="475569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156.30000000000001</c:v>
                </c:pt>
                <c:pt idx="1">
                  <c:v>156.30000000000001</c:v>
                </c:pt>
                <c:pt idx="2">
                  <c:v>156.30000000000001</c:v>
                </c:pt>
                <c:pt idx="3">
                  <c:v>156.30000000000001</c:v>
                </c:pt>
                <c:pt idx="4">
                  <c:v>156.30000000000001</c:v>
                </c:pt>
                <c:pt idx="5">
                  <c:v>156.30000000000001</c:v>
                </c:pt>
                <c:pt idx="6">
                  <c:v>156.30000000000001</c:v>
                </c:pt>
                <c:pt idx="7">
                  <c:v>156.30000000000001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82-D144-8B7B-EED14D3072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F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31F3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Cycles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48B-AD4D-9928-8C9B334E3CDB}"/>
              </c:ext>
            </c:extLst>
          </c:dPt>
          <c:dPt>
            <c:idx val="1"/>
            <c:invertIfNegative val="0"/>
            <c:bubble3D val="0"/>
            <c:spPr>
              <a:solidFill>
                <a:srgbClr val="A78B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48B-AD4D-9928-8C9B334E3CDB}"/>
              </c:ext>
            </c:extLst>
          </c:dPt>
          <c:dPt>
            <c:idx val="2"/>
            <c:invertIfNegative val="0"/>
            <c:bubble3D val="0"/>
            <c:spPr>
              <a:solidFill>
                <a:srgbClr val="38BD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48B-AD4D-9928-8C9B334E3CDB}"/>
              </c:ext>
            </c:extLst>
          </c:dPt>
          <c:dPt>
            <c:idx val="3"/>
            <c:invertIfNegative val="0"/>
            <c:bubble3D val="0"/>
            <c:spPr>
              <a:solidFill>
                <a:srgbClr val="34D3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48B-AD4D-9928-8C9B334E3CDB}"/>
              </c:ext>
            </c:extLst>
          </c:dPt>
          <c:dPt>
            <c:idx val="4"/>
            <c:invertIfNegative val="0"/>
            <c:bubble3D val="0"/>
            <c:spPr>
              <a:solidFill>
                <a:srgbClr val="FBBF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48B-AD4D-9928-8C9B334E3CDB}"/>
              </c:ext>
            </c:extLst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48B-AD4D-9928-8C9B334E3CDB}"/>
              </c:ext>
            </c:extLst>
          </c:dPt>
          <c:dPt>
            <c:idx val="6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48B-AD4D-9928-8C9B334E3CD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libgomp (sync/barrier)</c:v>
                </c:pt>
                <c:pt idx="1">
                  <c:v>A* findPath</c:v>
                </c:pt>
                <c:pt idx="2">
                  <c:v>hashmap lookups</c:v>
                </c:pt>
                <c:pt idx="3">
                  <c:v>malloc / free</c:v>
                </c:pt>
                <c:pt idx="4">
                  <c:v>orderedMoves sort</c:v>
                </c:pt>
                <c:pt idx="5">
                  <c:v>priority queue ops</c:v>
                </c:pt>
                <c:pt idx="6">
                  <c:v>collision detection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51.52</c:v>
                </c:pt>
                <c:pt idx="1">
                  <c:v>9.2200000000000006</c:v>
                </c:pt>
                <c:pt idx="2">
                  <c:v>7.12</c:v>
                </c:pt>
                <c:pt idx="3">
                  <c:v>4.72</c:v>
                </c:pt>
                <c:pt idx="4">
                  <c:v>3.83</c:v>
                </c:pt>
                <c:pt idx="5">
                  <c:v>2.66</c:v>
                </c:pt>
                <c:pt idx="6">
                  <c:v>1.01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48B-AD4D-9928-8C9B334E3C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F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1F3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Runtime at N=1 (s)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8BD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DAF-CC42-88FF-59CD06A16062}"/>
              </c:ext>
            </c:extLst>
          </c:dPt>
          <c:dPt>
            <c:idx val="1"/>
            <c:invertIfNegative val="0"/>
            <c:bubble3D val="0"/>
            <c:spPr>
              <a:solidFill>
                <a:srgbClr val="A78B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DAF-CC42-88FF-59CD06A16062}"/>
              </c:ext>
            </c:extLst>
          </c:dPt>
          <c:dPt>
            <c:idx val="2"/>
            <c:invertIfNegative val="0"/>
            <c:bubble3D val="0"/>
            <c:spPr>
              <a:solidFill>
                <a:srgbClr val="FBBF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DAF-CC42-88FF-59CD06A1606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Greedy Batch
(Stage 1)</c:v>
                </c:pt>
                <c:pt idx="1">
                  <c:v>Speculative Beam-8
(Stage 2)</c:v>
                </c:pt>
                <c:pt idx="2">
                  <c:v>Bitset Wavefront
(Stage 3)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156.30000000000001</c:v>
                </c:pt>
                <c:pt idx="1">
                  <c:v>38.4</c:v>
                </c:pt>
                <c:pt idx="2">
                  <c:v>15.5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DAF-CC42-88FF-59CD06A1606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F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1F35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Bitset Runtime (s)</c:v>
                </c:pt>
              </c:strCache>
            </c:strRef>
          </c:tx>
          <c:spPr>
            <a:ln w="38100" cap="flat">
              <a:solidFill>
                <a:srgbClr val="FBBF2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BBF24"/>
              </a:solidFill>
              <a:ln w="9525" cap="flat">
                <a:solidFill>
                  <a:srgbClr val="FBBF24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15.5</c:v>
                </c:pt>
                <c:pt idx="1">
                  <c:v>19.8</c:v>
                </c:pt>
                <c:pt idx="2">
                  <c:v>33.5</c:v>
                </c:pt>
                <c:pt idx="3">
                  <c:v>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36-B84C-881E-10E8285925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F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1F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1978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389120" y="0"/>
            <a:ext cx="731520" cy="6858000"/>
          </a:xfrm>
          <a:prstGeom prst="rect">
            <a:avLst/>
          </a:prstGeom>
          <a:solidFill>
            <a:srgbClr val="A01020">
              <a:alpha val="70000"/>
            </a:srgbClr>
          </a:solidFill>
          <a:ln w="12700">
            <a:solidFill>
              <a:srgbClr val="A01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3200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CMU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20040" y="1234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Carnegie Mellon University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57276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15-418: Parallel Computer Architecture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Programming – Spring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2468880"/>
            <a:ext cx="4114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Planning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" y="5029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Repair · Speculative Search · Bitset Wavefront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55778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Dylan Sun (bdsun)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Jongsun Park (jongsunp)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6309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github.com/bdyldo/418-final-project</a:t>
            </a:r>
            <a:endParaRPr lang="en-US" sz="1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290" r="-417"/>
          <a:stretch>
            <a:fillRect/>
          </a:stretch>
        </p:blipFill>
        <p:spPr>
          <a:xfrm>
            <a:off x="5198210" y="297180"/>
            <a:ext cx="6858000" cy="41148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120640" y="4572000"/>
            <a:ext cx="1828800" cy="1280160"/>
          </a:xfrm>
          <a:prstGeom prst="rect">
            <a:avLst/>
          </a:prstGeom>
          <a:solidFill>
            <a:srgbClr val="131F35"/>
          </a:solidFill>
          <a:ln w="9525">
            <a:solidFill>
              <a:srgbClr val="2A3F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120640" y="46177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5120640" y="5285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60920" y="4572000"/>
            <a:ext cx="1828800" cy="1280160"/>
          </a:xfrm>
          <a:prstGeom prst="rect">
            <a:avLst/>
          </a:prstGeom>
          <a:solidFill>
            <a:srgbClr val="131F35"/>
          </a:solidFill>
          <a:ln w="9525">
            <a:solidFill>
              <a:srgbClr val="2A3F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360920" y="46177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10×30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7360920" y="5285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601200" y="4572000"/>
            <a:ext cx="1828800" cy="1280160"/>
          </a:xfrm>
          <a:prstGeom prst="rect">
            <a:avLst/>
          </a:prstGeom>
          <a:solidFill>
            <a:srgbClr val="131F35"/>
          </a:solidFill>
          <a:ln w="9525">
            <a:solidFill>
              <a:srgbClr val="2A3F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601200" y="46177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9601200" y="5285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29200" y="6263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small_32 benchmark · PSC Bridges-2 ·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E83050"/>
          </a:solidFill>
          <a:ln w="12700">
            <a:solidFill>
              <a:srgbClr val="E83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Problem: Multi-Agent Path Finding (MAPF)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5760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collision-free multi-robot planning hard to parallelize?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5303520" cy="1417320"/>
          </a:xfrm>
          <a:prstGeom prst="rect">
            <a:avLst/>
          </a:prstGeom>
          <a:solidFill>
            <a:srgbClr val="131F35"/>
          </a:solidFill>
          <a:ln w="9525">
            <a:solidFill>
              <a:srgbClr val="2A3F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64008" cy="1417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MAPF?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robots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 shared 10×30 grid must each travel from a start cell to a goal cell. Every timestep, a robot may move to an adjacent cell or wait. </a:t>
            </a: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 robots may occupy the same cell (vertex conflict)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swap along the same edge (edge conflict) simultaneously.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2633472"/>
            <a:ext cx="5303520" cy="1417320"/>
          </a:xfrm>
          <a:prstGeom prst="rect">
            <a:avLst/>
          </a:prstGeom>
          <a:solidFill>
            <a:srgbClr val="131F35"/>
          </a:solidFill>
          <a:ln w="9525">
            <a:solidFill>
              <a:srgbClr val="2A3F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8600" y="2633472"/>
            <a:ext cx="64008" cy="1417320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6791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A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Exact CBS?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Conflict-Based Search (CBS) is optimal but exponentially expensive. It explores a binary constraint tree that branches on every pairwise conflict. For 32 dense robots, the branching factor makes CBS completely intractable – confirmed in our Stage 0 experiments (only worked for ≤8 robots).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4160520"/>
            <a:ext cx="5303520" cy="1417320"/>
          </a:xfrm>
          <a:prstGeom prst="rect">
            <a:avLst/>
          </a:prstGeom>
          <a:solidFill>
            <a:srgbClr val="131F35"/>
          </a:solidFill>
          <a:ln w="9525">
            <a:solidFill>
              <a:srgbClr val="2A3F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8600" y="4160520"/>
            <a:ext cx="64008" cy="1417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Solution: Greedy Iterative Repair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544568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MAPF collision semantics but avoid the full CBS tree. Instead: detect conflicts, select robot-disjoint conflict subsets, generate repair candidates, score, and apply. This exposes a natural parallel loop over candidate repairs while preserving collision-free solutions.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06440" y="10515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 Map: small_32</a:t>
            </a:r>
            <a:endParaRPr lang="en-US" sz="13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06440" y="1371600"/>
            <a:ext cx="6126480" cy="34747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806440" y="491947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start     </a:t>
            </a: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goal     each color = one robot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806440" y="5349240"/>
            <a:ext cx="1463040" cy="1188720"/>
          </a:xfrm>
          <a:prstGeom prst="rect">
            <a:avLst/>
          </a:prstGeom>
          <a:solidFill>
            <a:srgbClr val="1A2A45"/>
          </a:solidFill>
          <a:ln w="9525">
            <a:solidFill>
              <a:srgbClr val="2A3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806440" y="53949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× 30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5806440" y="5943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360920" y="5349240"/>
            <a:ext cx="1463040" cy="1188720"/>
          </a:xfrm>
          <a:prstGeom prst="rect">
            <a:avLst/>
          </a:prstGeom>
          <a:solidFill>
            <a:srgbClr val="1A2A45"/>
          </a:solidFill>
          <a:ln w="9525">
            <a:solidFill>
              <a:srgbClr val="2A3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360920" y="53949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7360920" y="5943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915400" y="5349240"/>
            <a:ext cx="1463040" cy="1188720"/>
          </a:xfrm>
          <a:prstGeom prst="rect">
            <a:avLst/>
          </a:prstGeom>
          <a:solidFill>
            <a:srgbClr val="1A2A45"/>
          </a:solidFill>
          <a:ln w="9525">
            <a:solidFill>
              <a:srgbClr val="2A3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915400" y="53949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Vertex + Edge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915400" y="5943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0469880" y="5349240"/>
            <a:ext cx="1463040" cy="1188720"/>
          </a:xfrm>
          <a:prstGeom prst="rect">
            <a:avLst/>
          </a:prstGeom>
          <a:solidFill>
            <a:srgbClr val="1A2A45"/>
          </a:solidFill>
          <a:ln w="9525">
            <a:solidFill>
              <a:srgbClr val="2A3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0469880" y="53949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Intractable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469880" y="5943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 Result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Journey: Three Stages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5760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targeted a different bottleneck in search performance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2834640" cy="5486400"/>
          </a:xfrm>
          <a:prstGeom prst="rect">
            <a:avLst/>
          </a:prstGeom>
          <a:solidFill>
            <a:srgbClr val="131F35"/>
          </a:solidFill>
          <a:ln w="9525">
            <a:solidFill>
              <a:srgbClr val="2A3F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283464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11430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94A3B8">
                    <a:alpha val="2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CBS Baseline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7556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CBS + A*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148840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optimal. Works for ≤8 robots. Constraint tree explodes with 32 dense robots – completely intractable. Established A* as the low-level single-agent planner interface.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5257800"/>
            <a:ext cx="2651760" cy="594360"/>
          </a:xfrm>
          <a:prstGeom prst="rect">
            <a:avLst/>
          </a:prstGeom>
          <a:solidFill>
            <a:srgbClr val="1A2A45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5276088"/>
            <a:ext cx="2651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 due to Exponential Branching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81528" y="3840480"/>
            <a:ext cx="118872" cy="0"/>
          </a:xfrm>
          <a:prstGeom prst="line">
            <a:avLst/>
          </a:prstGeom>
          <a:noFill/>
          <a:ln w="19050">
            <a:solidFill>
              <a:srgbClr val="2A3F5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18688" y="1097280"/>
            <a:ext cx="2834640" cy="5486400"/>
          </a:xfrm>
          <a:prstGeom prst="rect">
            <a:avLst/>
          </a:prstGeom>
          <a:solidFill>
            <a:srgbClr val="131F35"/>
          </a:solidFill>
          <a:ln w="9525">
            <a:solidFill>
              <a:srgbClr val="2A3F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18688" y="1097280"/>
            <a:ext cx="283464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18688" y="11430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38BDF8">
                    <a:alpha val="2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3355848" y="1234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Greedy Batch Repair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55848" y="17556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parallel repair candidates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55848" y="2148840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top-K robot-disjoint conflicts per iteration. Parallelize repair scoring with OpenMP. Achieved 4.7 speedup at N=16. Plateaued because 32 robots -&gt; at most 16 disjoint pairs/round.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10128" y="5257800"/>
            <a:ext cx="2651760" cy="594360"/>
          </a:xfrm>
          <a:prstGeom prst="rect">
            <a:avLst/>
          </a:prstGeom>
          <a:solidFill>
            <a:srgbClr val="1A2A45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10128" y="5276088"/>
            <a:ext cx="2651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4.69x speedup at N=16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71616" y="3840480"/>
            <a:ext cx="118872" cy="0"/>
          </a:xfrm>
          <a:prstGeom prst="line">
            <a:avLst/>
          </a:prstGeom>
          <a:noFill/>
          <a:ln w="19050">
            <a:solidFill>
              <a:srgbClr val="2A3F5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08776" y="1097280"/>
            <a:ext cx="2834640" cy="5486400"/>
          </a:xfrm>
          <a:prstGeom prst="rect">
            <a:avLst/>
          </a:prstGeom>
          <a:solidFill>
            <a:srgbClr val="131F35"/>
          </a:solidFill>
          <a:ln w="9525">
            <a:solidFill>
              <a:srgbClr val="2A3F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08776" y="1097280"/>
            <a:ext cx="283464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08776" y="11430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A78BFA">
                    <a:alpha val="2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000" dirty="0"/>
          </a:p>
        </p:txBody>
      </p:sp>
      <p:sp>
        <p:nvSpPr>
          <p:cNvPr id="27" name="Text 25"/>
          <p:cNvSpPr/>
          <p:nvPr/>
        </p:nvSpPr>
        <p:spPr>
          <a:xfrm>
            <a:off x="6345936" y="1234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Speculative Beam Planner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45936" y="17556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width=8, conflict pool=128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45936" y="2148840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conflict pool + beam of top-8 candidates. Reduced repair iterations from 4,914 to 1,628. Better solution quality (cost 1019 vs 1109). But OpenMP sync dominated: &lt;1 CPU utilized at N=16.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0216" y="5257800"/>
            <a:ext cx="2651760" cy="594360"/>
          </a:xfrm>
          <a:prstGeom prst="rect">
            <a:avLst/>
          </a:prstGeom>
          <a:solidFill>
            <a:srgbClr val="1A2A45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00216" y="5276088"/>
            <a:ext cx="2651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quality, negative scaling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061704" y="3840480"/>
            <a:ext cx="118872" cy="0"/>
          </a:xfrm>
          <a:prstGeom prst="line">
            <a:avLst/>
          </a:prstGeom>
          <a:noFill/>
          <a:ln w="19050">
            <a:solidFill>
              <a:srgbClr val="2A3F5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198864" y="1097280"/>
            <a:ext cx="2834640" cy="5486400"/>
          </a:xfrm>
          <a:prstGeom prst="rect">
            <a:avLst/>
          </a:prstGeom>
          <a:solidFill>
            <a:srgbClr val="131F35"/>
          </a:solidFill>
          <a:ln w="9525">
            <a:solidFill>
              <a:srgbClr val="2A3F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198864" y="1097280"/>
            <a:ext cx="283464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198864" y="11430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FBBF24">
                    <a:alpha val="2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000" dirty="0"/>
          </a:p>
        </p:txBody>
      </p:sp>
      <p:sp>
        <p:nvSpPr>
          <p:cNvPr id="36" name="Text 34"/>
          <p:cNvSpPr/>
          <p:nvPr/>
        </p:nvSpPr>
        <p:spPr>
          <a:xfrm>
            <a:off x="9336024" y="12344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Bitset Wavefront Planner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336024" y="17556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with packed uint64 bitmasks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336024" y="2148840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hash-table A* with dense BFS over bitsets. Pack 64 cells/uint64 word. Bit-shift frontier propagation, O(1) constraint lookup, no heap allocation. 10.1x single-thread speedup over greedy baseline.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290304" y="5257800"/>
            <a:ext cx="2651760" cy="594360"/>
          </a:xfrm>
          <a:prstGeom prst="rect">
            <a:avLst/>
          </a:prstGeom>
          <a:solidFill>
            <a:srgbClr val="1A2A45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290304" y="5276088"/>
            <a:ext cx="2651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10.1× faster at N=1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28600" y="6537960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(perf record/stat on PSC Bridges-2) informed decisions at each stage transition.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1: Greedy Batch Repair – Algorithm &amp; Scaling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5760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parallel repair candidates · Top-K disjoint conflict selection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5029200" cy="4846320"/>
          </a:xfrm>
          <a:prstGeom prst="rect">
            <a:avLst/>
          </a:prstGeom>
          <a:solidFill>
            <a:srgbClr val="131F35"/>
          </a:solidFill>
          <a:ln w="9525">
            <a:solidFill>
              <a:srgbClr val="2A3F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64008" cy="4846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4048" y="1609344"/>
            <a:ext cx="292608" cy="29260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1609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8096" y="15270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initial paths for all robots independently using A*.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2295144"/>
            <a:ext cx="292608" cy="29260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" y="2295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8096" y="215798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all vertex &amp; edge collisions; sort by earliest timestep.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" y="2980944"/>
            <a:ext cx="292608" cy="29260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2980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29443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top-K robot-disjoint conflicts (max K=32). Disjoint = independently parallelizable.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" y="3666744"/>
            <a:ext cx="292608" cy="29260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" y="3666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6301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conflict, generate 2 candidate repairs (one constraint per robot). Score with A*.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4048" y="4352544"/>
            <a:ext cx="292608" cy="29260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" y="4352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43159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#pragma omp parallel for over repair tasks – workers evaluate candidates concurrently.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4048" y="5038344"/>
            <a:ext cx="292608" cy="29260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" y="5038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50017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best repairs; validate merged state doesn't introduce new collisions. Repeat.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5577840"/>
            <a:ext cx="4846320" cy="777240"/>
          </a:xfrm>
          <a:prstGeom prst="rect">
            <a:avLst/>
          </a:prstGeom>
          <a:solidFill>
            <a:srgbClr val="0F2A1A"/>
          </a:solidFill>
          <a:ln w="12700">
            <a:solidFill>
              <a:srgbClr val="2254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" y="5605272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Robot-disjoint conflict selection ensures repair tasks are truly independent – no shared robot state → safe OpenMP parallel execution.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0" y="10972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Runtime vs. Thread Count — Greedy Batch (small_32)</a:t>
            </a:r>
            <a:endParaRPr lang="en-US" sz="130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5394960" y="1508760"/>
          <a:ext cx="64922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Shape 28"/>
          <p:cNvSpPr/>
          <p:nvPr/>
        </p:nvSpPr>
        <p:spPr>
          <a:xfrm>
            <a:off x="5394960" y="5440680"/>
            <a:ext cx="1508760" cy="1143000"/>
          </a:xfrm>
          <a:prstGeom prst="rect">
            <a:avLst/>
          </a:prstGeom>
          <a:solidFill>
            <a:srgbClr val="1A2A45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394960" y="54864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156.3s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5394960" y="60533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040880" y="5440680"/>
            <a:ext cx="1508760" cy="1143000"/>
          </a:xfrm>
          <a:prstGeom prst="rect">
            <a:avLst/>
          </a:prstGeom>
          <a:solidFill>
            <a:srgbClr val="1A2A4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7040880" y="54864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33.3s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7040880" y="60533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N=16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8686800" y="5440680"/>
            <a:ext cx="1508760" cy="1143000"/>
          </a:xfrm>
          <a:prstGeom prst="rect">
            <a:avLst/>
          </a:prstGeom>
          <a:solidFill>
            <a:srgbClr val="1A2A45"/>
          </a:solidFill>
          <a:ln w="12700">
            <a:solidFill>
              <a:srgbClr val="2A3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686800" y="54864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4.69x</a:t>
            </a:r>
            <a:endParaRPr lang="en-US" sz="2000" dirty="0"/>
          </a:p>
        </p:txBody>
      </p:sp>
      <p:sp>
        <p:nvSpPr>
          <p:cNvPr id="39" name="Text 36"/>
          <p:cNvSpPr/>
          <p:nvPr/>
        </p:nvSpPr>
        <p:spPr>
          <a:xfrm>
            <a:off x="8686800" y="60533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10332720" y="5440680"/>
            <a:ext cx="1508760" cy="1143000"/>
          </a:xfrm>
          <a:prstGeom prst="rect">
            <a:avLst/>
          </a:prstGeom>
          <a:solidFill>
            <a:srgbClr val="1A2A45"/>
          </a:solidFill>
          <a:ln w="12700">
            <a:solidFill>
              <a:srgbClr val="2A3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10332720" y="54864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Plateau</a:t>
            </a:r>
            <a:endParaRPr lang="en-US" sz="2000" dirty="0"/>
          </a:p>
        </p:txBody>
      </p:sp>
      <p:sp>
        <p:nvSpPr>
          <p:cNvPr id="42" name="Text 39"/>
          <p:cNvSpPr/>
          <p:nvPr/>
        </p:nvSpPr>
        <p:spPr>
          <a:xfrm>
            <a:off x="10332720" y="60533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N&gt;16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2: Parallel Speculative Repair (Beam-8)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5760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conflict pool + beam search for better quality, but OpenMP overhead kills scaling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5486400" cy="2606040"/>
          </a:xfrm>
          <a:prstGeom prst="rect">
            <a:avLst/>
          </a:prstGeom>
          <a:solidFill>
            <a:srgbClr val="131F35"/>
          </a:solidFill>
          <a:ln w="9525">
            <a:solidFill>
              <a:srgbClr val="2A3F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64008" cy="26060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612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Changes from Stage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pool: 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60020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(was 32)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926080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candidates to explore speculatively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0848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width: 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600200" y="20848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candidates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926080" y="20848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top-8 repair solutions across iterations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61518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Lookahead: 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600200" y="261518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1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926080" y="26151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repair quality one step ahead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14553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logic: 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600200" y="314553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constraints, skip already-changed robots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926080" y="314553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3794760"/>
            <a:ext cx="5486400" cy="1417320"/>
          </a:xfrm>
          <a:prstGeom prst="rect">
            <a:avLst/>
          </a:prstGeom>
          <a:solidFill>
            <a:srgbClr val="131F35"/>
          </a:solidFill>
          <a:ln w="9525">
            <a:solidFill>
              <a:srgbClr val="2A3F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28600" y="3794760"/>
            <a:ext cx="64008" cy="1417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85876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Algorithmic Improvement (at N=1)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7472" y="42519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−67%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47472" y="46634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4,914 → 1,628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7472" y="493776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iterations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91640" y="42519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−64%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91640" y="46634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58,760 → 21,124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691640" y="493776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calls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035808" y="42519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−8.1%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035808" y="46634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1,109 → 1,019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035808" y="493776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cost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379976" y="425196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−7.7%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379976" y="46634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→ 36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379976" y="493776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makespan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5303520"/>
            <a:ext cx="5486400" cy="1234440"/>
          </a:xfrm>
          <a:prstGeom prst="rect">
            <a:avLst/>
          </a:prstGeom>
          <a:solidFill>
            <a:srgbClr val="131F35"/>
          </a:solidFill>
          <a:ln w="9525">
            <a:solidFill>
              <a:srgbClr val="2A3F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28600" y="5303520"/>
            <a:ext cx="64008" cy="1234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11480" y="53675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Despite better quality, N=1 (single thread) is the fastest run.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11480" y="5733288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N=16 is 2.13x slower than N=1. Extra threads sit idle in OpenMP barriers – exposed by profiling (see Slide 6).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943600" y="1097280"/>
            <a:ext cx="598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Runtime vs. Threads — Speculative Beam-8 (small_32)</a:t>
            </a:r>
            <a:endParaRPr lang="en-US" sz="1300" dirty="0"/>
          </a:p>
        </p:txBody>
      </p:sp>
      <p:graphicFrame>
        <p:nvGraphicFramePr>
          <p:cNvPr id="41" name="Chart 0"/>
          <p:cNvGraphicFramePr/>
          <p:nvPr/>
        </p:nvGraphicFramePr>
        <p:xfrm>
          <a:off x="5852160" y="1508760"/>
          <a:ext cx="61264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2" name="Shape 39"/>
          <p:cNvSpPr/>
          <p:nvPr/>
        </p:nvSpPr>
        <p:spPr>
          <a:xfrm>
            <a:off x="5943600" y="5120640"/>
            <a:ext cx="1828800" cy="1188720"/>
          </a:xfrm>
          <a:prstGeom prst="rect">
            <a:avLst/>
          </a:prstGeom>
          <a:solidFill>
            <a:srgbClr val="1A2A45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5943600" y="5166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38.4s</a:t>
            </a:r>
            <a:endParaRPr lang="en-US" sz="2200" dirty="0"/>
          </a:p>
        </p:txBody>
      </p:sp>
      <p:sp>
        <p:nvSpPr>
          <p:cNvPr id="44" name="Text 41"/>
          <p:cNvSpPr/>
          <p:nvPr/>
        </p:nvSpPr>
        <p:spPr>
          <a:xfrm>
            <a:off x="5943600" y="5760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8001000" y="5120640"/>
            <a:ext cx="1828800" cy="1188720"/>
          </a:xfrm>
          <a:prstGeom prst="rect">
            <a:avLst/>
          </a:prstGeom>
          <a:solidFill>
            <a:srgbClr val="1A2A45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8001000" y="5166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81.9s</a:t>
            </a:r>
            <a:endParaRPr lang="en-US" sz="2200" dirty="0"/>
          </a:p>
        </p:txBody>
      </p:sp>
      <p:sp>
        <p:nvSpPr>
          <p:cNvPr id="47" name="Text 44"/>
          <p:cNvSpPr/>
          <p:nvPr/>
        </p:nvSpPr>
        <p:spPr>
          <a:xfrm>
            <a:off x="8001000" y="5760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N=16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10058400" y="5120640"/>
            <a:ext cx="1828800" cy="1188720"/>
          </a:xfrm>
          <a:prstGeom prst="rect">
            <a:avLst/>
          </a:prstGeom>
          <a:solidFill>
            <a:srgbClr val="1A2A45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10058400" y="5166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0.468x</a:t>
            </a:r>
            <a:endParaRPr lang="en-US" sz="2200" dirty="0"/>
          </a:p>
        </p:txBody>
      </p:sp>
      <p:sp>
        <p:nvSpPr>
          <p:cNvPr id="50" name="Text 47"/>
          <p:cNvSpPr/>
          <p:nvPr/>
        </p:nvSpPr>
        <p:spPr>
          <a:xfrm>
            <a:off x="10058400" y="5760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Profiling: Why Doesn't It Scale?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5760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 record/stat on PSC Bridges-2 — parallel beam-8, N=16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5212080" cy="3200400"/>
          </a:xfrm>
          <a:prstGeom prst="rect">
            <a:avLst/>
          </a:prstGeom>
          <a:solidFill>
            <a:srgbClr val="131F35"/>
          </a:solidFill>
          <a:ln w="9525">
            <a:solidFill>
              <a:srgbClr val="2A3F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64008" cy="32004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612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 stat Highlights  (N=16, beam-8)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5029200" cy="402336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60934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CPUs utilized (avg)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60934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0.935 / 16 requested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002536"/>
            <a:ext cx="5029200" cy="402336"/>
          </a:xfrm>
          <a:prstGeom prst="rect">
            <a:avLst/>
          </a:prstGeom>
          <a:solidFill>
            <a:srgbClr val="131F35"/>
          </a:solidFill>
          <a:ln w="12700">
            <a:solidFill>
              <a:srgbClr val="0F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03911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stalled cycles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20391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63.71%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432304"/>
            <a:ext cx="5029200" cy="402336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24688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stalled cycles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24688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862072"/>
            <a:ext cx="5029200" cy="402336"/>
          </a:xfrm>
          <a:prstGeom prst="rect">
            <a:avLst/>
          </a:prstGeom>
          <a:solidFill>
            <a:srgbClr val="131F35"/>
          </a:solidFill>
          <a:ln w="12700">
            <a:solidFill>
              <a:srgbClr val="0F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28986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(instr/cycle)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37560" y="28986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291840"/>
            <a:ext cx="5029200" cy="402336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32841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misses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3284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1.88%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721608"/>
            <a:ext cx="5029200" cy="402336"/>
          </a:xfrm>
          <a:prstGeom prst="rect">
            <a:avLst/>
          </a:prstGeom>
          <a:solidFill>
            <a:srgbClr val="131F35"/>
          </a:solidFill>
          <a:ln w="12700">
            <a:solidFill>
              <a:srgbClr val="0F1E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37581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elapsed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37560" y="375818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 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8600" y="4407408"/>
            <a:ext cx="5212080" cy="2130552"/>
          </a:xfrm>
          <a:prstGeom prst="rect">
            <a:avLst/>
          </a:prstGeom>
          <a:solidFill>
            <a:srgbClr val="131F35"/>
          </a:solidFill>
          <a:ln w="9525">
            <a:solidFill>
              <a:srgbClr val="2A3F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28600" y="4407408"/>
            <a:ext cx="64008" cy="2130552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47141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CA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 Cause: OpenMP Spin-Wait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48463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hottest libgomp addresses were inspected with objdump — they land in a pause/compare spin loop. The thread team is mostly waiting in barriers, not doing useful computation.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repair iteration exposes too few independent tasks for 16 workers. Once the conflict-disjoint tasks are claimed by a few threads, the rest spin idle until the next iteration's barrier.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0" y="109728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 report — Top Sampled Hotspots</a:t>
            </a:r>
            <a:endParaRPr lang="en-US" sz="1300" dirty="0"/>
          </a:p>
        </p:txBody>
      </p:sp>
      <p:graphicFrame>
        <p:nvGraphicFramePr>
          <p:cNvPr id="32" name="Chart 0"/>
          <p:cNvGraphicFramePr/>
          <p:nvPr/>
        </p:nvGraphicFramePr>
        <p:xfrm>
          <a:off x="5577840" y="1508760"/>
          <a:ext cx="6400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Shape 30"/>
          <p:cNvSpPr/>
          <p:nvPr/>
        </p:nvSpPr>
        <p:spPr>
          <a:xfrm>
            <a:off x="5577840" y="5285232"/>
            <a:ext cx="6400800" cy="1252728"/>
          </a:xfrm>
          <a:prstGeom prst="rect">
            <a:avLst/>
          </a:prstGeom>
          <a:solidFill>
            <a:srgbClr val="1A1200"/>
          </a:solidFill>
          <a:ln w="12700">
            <a:solidFill>
              <a:srgbClr val="7835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715000" y="5321808"/>
            <a:ext cx="6172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Take-away: The dominant cost is not a serial merge or collision-detection function. Over 51% of cycles are in libgomp synchronization. The largest useful application hotspot is A* search — specifically its unordered_map lookups, heap allocations, and priority-queue operations. This motivated Stage 3: replace A* with a data-parallel bitset BFS.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3: Bitset Wavefront Low-Level Planner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5760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irregular A* with dense bitwise BFS – 10.1x constant-factor speedup at N=1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5212080" cy="3657600"/>
          </a:xfrm>
          <a:prstGeom prst="rect">
            <a:avLst/>
          </a:prstGeom>
          <a:solidFill>
            <a:srgbClr val="131F35"/>
          </a:solidFill>
          <a:ln w="9525">
            <a:solidFill>
              <a:srgbClr val="2A3F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64008" cy="36576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612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Design: Bitwise BFS over Packed Words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cells: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508760" y="15727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up to 64 grid cells into one uint64_t word (1 word/row for 10-row grid).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1671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prop.: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508760" y="21671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 reachable frontier using bitwise shifts, AND, OR – no heap, no hash table.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7614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508760" y="27614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Pre-index vertex/edge constraints into bitmasks → O(1) constraint lookup per timestep.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3558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recon.: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508760" y="33558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parent-move table for path reconstruction after BFS completes.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9502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parallelism: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508760" y="39502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Machine-word SIMD-friendly; row-parallel on wide grids (&gt;64 cols).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4892040"/>
            <a:ext cx="5029200" cy="1600200"/>
          </a:xfrm>
          <a:prstGeom prst="rect">
            <a:avLst/>
          </a:prstGeom>
          <a:solidFill>
            <a:srgbClr val="1A1200"/>
          </a:solidFill>
          <a:ln w="12700">
            <a:solidFill>
              <a:srgbClr val="7835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8912" y="4956048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(before):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unordered_map/set for visited states, priority queue (heap), dynamic allocation per node, irregular memory access pattern.
</a:t>
            </a: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Bitset BFS (after):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uint64 arrays, bit-parallel frontier expansion, pre-allocated fixed arrays, regular sequential memory access.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77840" y="10972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N=1 Runtime Comparison (small_32)</a:t>
            </a:r>
            <a:endParaRPr lang="en-US" sz="13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5486400" y="1508760"/>
          <a:ext cx="64922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/>
          <p:nvPr/>
        </p:nvSpPr>
        <p:spPr>
          <a:xfrm>
            <a:off x="5577840" y="40690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Bitset Runtime vs. Threads (small_32) — Negative Scaling</a:t>
            </a:r>
            <a:endParaRPr lang="en-US" sz="1300" dirty="0"/>
          </a:p>
        </p:txBody>
      </p:sp>
      <p:graphicFrame>
        <p:nvGraphicFramePr>
          <p:cNvPr id="24" name="Chart 1"/>
          <p:cNvGraphicFramePr/>
          <p:nvPr/>
        </p:nvGraphicFramePr>
        <p:xfrm>
          <a:off x="5486400" y="4462272"/>
          <a:ext cx="649224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5" name="Text 21"/>
          <p:cNvSpPr/>
          <p:nvPr/>
        </p:nvSpPr>
        <p:spPr>
          <a:xfrm>
            <a:off x="5577840" y="65653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10-row grid = 1 uint64/row. No coarse work to distribute. OpenMP overhead grows with N → negative scaling.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B1120"/>
          </a:solidFill>
          <a:ln w="12700">
            <a:solidFill>
              <a:srgbClr val="0B11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457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Results, Key Findings &amp; Future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5760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from parallel MAPF on PSC Bridges-2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10972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 Summary — small_32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810185"/>
              </p:ext>
            </p:extLst>
          </p:nvPr>
        </p:nvGraphicFramePr>
        <p:xfrm>
          <a:off x="228600" y="1490472"/>
          <a:ext cx="4434840" cy="39319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Batch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156.3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Batch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4.69x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Batch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34.6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plateau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Speculative Beam-8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38.4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endParaRPr lang="en-US" sz="1100" dirty="0">
                        <a:solidFill>
                          <a:srgbClr val="34D399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Speculative Beam-8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Bitset Wavefront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10.1x*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Bitset Wavefront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76.0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54864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vs. Greedy-Batch N=1</a:t>
            </a:r>
            <a:endParaRPr lang="en-US" sz="900" dirty="0"/>
          </a:p>
        </p:txBody>
      </p:sp>
      <p:sp>
        <p:nvSpPr>
          <p:cNvPr id="7" name="Text 6"/>
          <p:cNvSpPr/>
          <p:nvPr/>
        </p:nvSpPr>
        <p:spPr>
          <a:xfrm>
            <a:off x="228600" y="574243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Paths (small_32)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6035040"/>
            <a:ext cx="5303520" cy="6583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760720" y="1097280"/>
            <a:ext cx="6126480" cy="3931920"/>
          </a:xfrm>
          <a:prstGeom prst="rect">
            <a:avLst/>
          </a:prstGeom>
          <a:solidFill>
            <a:srgbClr val="131F35"/>
          </a:solidFill>
          <a:ln w="9525">
            <a:solidFill>
              <a:srgbClr val="2A3F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760720" y="1097280"/>
            <a:ext cx="64008" cy="3931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989320" y="116128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897880" y="1572768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4.69x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720840" y="157276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batch scales to N=16, then plateaus. Disjoint-conflict ceiling: 32 robots → max 16 pairs/round → parallelism saturates before 128 cores.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897880" y="2395728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0.47x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720840" y="239572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beam-8 improved search quality by 67% (fewer iterations) but OpenMP synchronization dominated at all N&gt;1. &lt;1 CPU utilized on average at N=16.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897880" y="3218688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10.1x</a:t>
            </a:r>
            <a:endParaRPr lang="en-US" sz="2000" dirty="0">
              <a:solidFill>
                <a:srgbClr val="34D399"/>
              </a:solidFill>
            </a:endParaRPr>
          </a:p>
        </p:txBody>
      </p:sp>
      <p:sp>
        <p:nvSpPr>
          <p:cNvPr id="19" name="Text 15"/>
          <p:cNvSpPr/>
          <p:nvPr/>
        </p:nvSpPr>
        <p:spPr>
          <a:xfrm>
            <a:off x="6720840" y="321868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Bitset wavefront: largest win of the project. Dense BFS over packed uint64 eliminated A*'s hash-table/heap overhead — best single-thread result at N=1.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5897880" y="4041648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0.20x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6720840" y="404164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Bitset scales negatively on small_32: 10-row grid → 1 uint64/row, no coarse-grained row parallelism. Confirms granularity matters as much as algorithm.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760720" y="5120640"/>
            <a:ext cx="6126480" cy="1463040"/>
          </a:xfrm>
          <a:prstGeom prst="rect">
            <a:avLst/>
          </a:prstGeom>
          <a:solidFill>
            <a:srgbClr val="131F35"/>
          </a:solidFill>
          <a:ln w="9525">
            <a:solidFill>
              <a:srgbClr val="2A3F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5760720" y="5120640"/>
            <a:ext cx="64008" cy="14630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989320" y="518464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5897880" y="5577840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bitset MAPF on wider grids (&gt;64 cols) where multiple uint64 chunks enable real row-level parallelism.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897880" y="5897880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implementation: BFS wavefront is data-parallel → CUDA block/warp mapping.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897880" y="6217920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beam-search quality (Stage 2) with bitset low-level planner (Stage 3).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1553</Words>
  <Application>Microsoft Macintosh PowerPoint</Application>
  <PresentationFormat>Widescreen</PresentationFormat>
  <Paragraphs>225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Multi-Agent Path Planning — 15-418</dc:title>
  <dc:subject>PptxGenJS Presentation</dc:subject>
  <dc:creator>Dylan Sun, Jongsun Park</dc:creator>
  <cp:lastModifiedBy>Jongsun Park</cp:lastModifiedBy>
  <cp:revision>29</cp:revision>
  <dcterms:created xsi:type="dcterms:W3CDTF">2026-04-24T19:58:59Z</dcterms:created>
  <dcterms:modified xsi:type="dcterms:W3CDTF">2026-04-24T23:28:41Z</dcterms:modified>
</cp:coreProperties>
</file>